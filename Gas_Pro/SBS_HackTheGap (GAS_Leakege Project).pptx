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70" r:id="rId4"/>
    <p:sldId id="264" r:id="rId5"/>
    <p:sldId id="265" r:id="rId6"/>
    <p:sldId id="269" r:id="rId7"/>
    <p:sldId id="272" r:id="rId8"/>
  </p:sldIdLst>
  <p:sldSz cx="12192000" cy="6858000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Tw Cen MT" panose="020B06020201040206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4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3339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4878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8D6A16-E2B1-8A80-3C29-D9CAA396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2931376-7A21-18D1-2C6C-2131BE4AC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E8E229F-2477-AB4B-8871-E6F803BBD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297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8D6A16-E2B1-8A80-3C29-D9CAA396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2931376-7A21-18D1-2C6C-2131BE4AC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E8E229F-2477-AB4B-8871-E6F803BBD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298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C2016C3-DBDA-2B7B-7C1B-780F3F66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548AD2E-73CE-6DE1-DD24-AF4710E66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6394F41-E985-36DF-332A-7E8695121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082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A2E15DD-02CE-B54D-67B6-3B0DE638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36A0336-B607-FA12-F75D-55BA663AB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9133586-F581-AFA2-5B62-8AC70E22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282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A2E15DD-02CE-B54D-67B6-3B0DE638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36A0336-B607-FA12-F75D-55BA663AB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9133586-F581-AFA2-5B62-8AC70E22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417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134DD66-034B-3A71-01E6-DEA90DE3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EDA636F-DFE6-7C4D-CBD4-D56166C10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6707104-1A7D-8681-2312-B12F6AAC2B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306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9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405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248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910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7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2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358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98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276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2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93771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463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397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95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365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5679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3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986906-264A-2600-DE15-06849D0D7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F3319D-D3A6-BA11-208E-A7AF106702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5B7BAF-E8B4-C2B0-37E0-901866D33C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98B1F1-E8F2-CB1A-6648-FE1D2CF187A1}"/>
              </a:ext>
            </a:extLst>
          </p:cNvPr>
          <p:cNvSpPr txBox="1"/>
          <p:nvPr/>
        </p:nvSpPr>
        <p:spPr>
          <a:xfrm>
            <a:off x="2612571" y="274320"/>
            <a:ext cx="679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23346D"/>
                </a:solidFill>
              </a:rPr>
              <a:t>HACK THE GAP 2026</a:t>
            </a:r>
            <a:endParaRPr lang="en-IN" sz="5400" b="1" dirty="0">
              <a:solidFill>
                <a:srgbClr val="23346D"/>
              </a:solidFill>
            </a:endParaRPr>
          </a:p>
        </p:txBody>
      </p:sp>
      <p:pic>
        <p:nvPicPr>
          <p:cNvPr id="37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52399"/>
            <a:ext cx="12192000" cy="1209675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40" name="Google Shape;93;p13"/>
          <p:cNvSpPr txBox="1"/>
          <p:nvPr/>
        </p:nvSpPr>
        <p:spPr>
          <a:xfrm>
            <a:off x="447675" y="193357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8220"/>
                </a:solidFill>
                <a:latin typeface="Roboto"/>
                <a:ea typeface="Roboto"/>
                <a:cs typeface="Roboto"/>
                <a:sym typeface="Roboto"/>
              </a:rPr>
              <a:t>TITLE PAGE</a:t>
            </a:r>
            <a:endParaRPr dirty="0"/>
          </a:p>
        </p:txBody>
      </p:sp>
      <p:sp>
        <p:nvSpPr>
          <p:cNvPr id="41" name="Google Shape;94;p13"/>
          <p:cNvSpPr txBox="1"/>
          <p:nvPr/>
        </p:nvSpPr>
        <p:spPr>
          <a:xfrm>
            <a:off x="1962150" y="2857049"/>
            <a:ext cx="94840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b="1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 Team Name: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CODERS</a:t>
            </a:r>
            <a:endParaRPr dirty="0"/>
          </a:p>
        </p:txBody>
      </p:sp>
      <p:sp>
        <p:nvSpPr>
          <p:cNvPr id="42" name="Google Shape;95;p13"/>
          <p:cNvSpPr/>
          <p:nvPr/>
        </p:nvSpPr>
        <p:spPr>
          <a:xfrm>
            <a:off x="1962150" y="32194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96;p13"/>
          <p:cNvSpPr txBox="1"/>
          <p:nvPr/>
        </p:nvSpPr>
        <p:spPr>
          <a:xfrm>
            <a:off x="1962150" y="3228975"/>
            <a:ext cx="885090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 Problem Statement Title: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MECHANISM TO DETECT LEAKAGE OF GAS IN  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UNDERGROUND METALLIC PIPELINES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Google Shape;97;p13"/>
          <p:cNvSpPr/>
          <p:nvPr/>
        </p:nvSpPr>
        <p:spPr>
          <a:xfrm>
            <a:off x="1962150" y="37338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98;p13"/>
          <p:cNvSpPr txBox="1"/>
          <p:nvPr/>
        </p:nvSpPr>
        <p:spPr>
          <a:xfrm>
            <a:off x="1941198" y="5014912"/>
            <a:ext cx="8572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 Theme:   </a:t>
            </a:r>
            <a:r>
              <a:rPr lang="en-US" sz="1800" i="0" u="none" strike="noStrike" cap="none" dirty="0">
                <a:latin typeface="Roboto"/>
                <a:ea typeface="Roboto"/>
                <a:cs typeface="Roboto"/>
                <a:sym typeface="Roboto"/>
              </a:rPr>
              <a:t>IOT  PROJECT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6" name="Google Shape;99;p13"/>
          <p:cNvSpPr/>
          <p:nvPr/>
        </p:nvSpPr>
        <p:spPr>
          <a:xfrm>
            <a:off x="1962150" y="42481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00;p13"/>
          <p:cNvSpPr txBox="1"/>
          <p:nvPr/>
        </p:nvSpPr>
        <p:spPr>
          <a:xfrm>
            <a:off x="1923239" y="4400550"/>
            <a:ext cx="8572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 Category: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HARDWARE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8" name="Google Shape;101;p13"/>
          <p:cNvSpPr/>
          <p:nvPr/>
        </p:nvSpPr>
        <p:spPr>
          <a:xfrm>
            <a:off x="1962150" y="47625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6F3319D-D3A6-BA11-208E-A7AF106702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399" y="201884"/>
            <a:ext cx="2024743" cy="109600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15B7BAF-E8B4-C2B0-37E0-901866D33C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3698" y="168465"/>
            <a:ext cx="1830702" cy="109600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598B1F1-E8F2-CB1A-6648-FE1D2CF187A1}"/>
              </a:ext>
            </a:extLst>
          </p:cNvPr>
          <p:cNvSpPr txBox="1"/>
          <p:nvPr/>
        </p:nvSpPr>
        <p:spPr>
          <a:xfrm>
            <a:off x="2764971" y="426720"/>
            <a:ext cx="679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23346D"/>
                </a:solidFill>
              </a:rPr>
              <a:t>HACK THE GAP 2026</a:t>
            </a:r>
            <a:endParaRPr lang="en-IN" sz="5400" b="1" dirty="0">
              <a:solidFill>
                <a:srgbClr val="23346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8D392A6-94BC-5B93-7277-1CE83FD2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70D660AE-4374-9860-E551-8AD4FC134BF3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0134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37FCC2A-DB4E-FE39-3B16-ACFCAC603B2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670" y="0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3913ED85-B068-B4DB-862E-5BD58932670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F16C5BED-0548-5193-17D4-2C2EE824BBAA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4F7F1-7D68-28F6-BA07-554C54D7A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DFAEA0-9ED8-8040-E0C2-16942D5538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CB96B-DF0E-BF78-411F-76F4904B9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C4522-49FB-02DD-67C3-49D609DFEAD8}"/>
              </a:ext>
            </a:extLst>
          </p:cNvPr>
          <p:cNvSpPr txBox="1"/>
          <p:nvPr/>
        </p:nvSpPr>
        <p:spPr>
          <a:xfrm>
            <a:off x="-1310036" y="560049"/>
            <a:ext cx="1495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</a:t>
            </a:r>
            <a:r>
              <a:rPr lang="en-US" b="1" dirty="0"/>
              <a:t>Smart Mechanism To Detect Leakage Of Gas In Underground Metallic Pipelines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690665" y="1259159"/>
            <a:ext cx="11225718" cy="383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Proposed Solution (Describe Idea / Solution / Prototype)</a:t>
            </a:r>
            <a:endParaRPr lang="en-IN" b="1" dirty="0">
              <a:latin typeface="Times New Roman" panose="02020603050405020304" pitchFamily="18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375" y="1857983"/>
            <a:ext cx="71595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leaking from underground pipelines is dangerous because methane can cause fires, explosions, and health problems. Old methods to find leaks are slow and costly.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technology, we can create a smart and low-cost gas leak detection system. In this project,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 gas levels from an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MQ4 sensor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leakage is detected, it turns on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and 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sends the data to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MATLAB script sends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alerts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live gas readings for easy remote monitoring.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simple, fast, energy-efficient, and useful for homes, industries, and long pipeline networks.</a:t>
            </a:r>
          </a:p>
          <a:p>
            <a:pPr lvl="0" defTabSz="914400" eaLnBrk="0" hangingPunct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88C5A8-6F91-69B8-CD98-F24117A389B8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2" b="11427"/>
          <a:stretch/>
        </p:blipFill>
        <p:spPr>
          <a:xfrm>
            <a:off x="7538936" y="2278884"/>
            <a:ext cx="4377446" cy="301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1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8D392A6-94BC-5B93-7277-1CE83FD2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70D660AE-4374-9860-E551-8AD4FC134BF3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21768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37FCC2A-DB4E-FE39-3B16-ACFCAC603B2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3913ED85-B068-B4DB-862E-5BD58932670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F16C5BED-0548-5193-17D4-2C2EE824BBAA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4F7F1-7D68-28F6-BA07-554C54D7A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DFAEA0-9ED8-8040-E0C2-16942D5538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CB96B-DF0E-BF78-411F-76F4904B9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C4522-49FB-02DD-67C3-49D609DFEAD8}"/>
              </a:ext>
            </a:extLst>
          </p:cNvPr>
          <p:cNvSpPr txBox="1"/>
          <p:nvPr/>
        </p:nvSpPr>
        <p:spPr>
          <a:xfrm>
            <a:off x="-1147862" y="311790"/>
            <a:ext cx="14951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2766" y="1478604"/>
            <a:ext cx="52821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Gas Monitoring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ESP32-Based Smart Control Unit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Local Alerts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Email Notifications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Low-Cost Architecture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Operation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&amp; Expansion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63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F39BD27-C2FF-920B-F8BC-74751303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93138E74-53A5-FAFD-EC80-34CA15501B14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988F2C5-43AB-3687-1F93-303E70A609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90AC2811-A898-5E9D-878B-A0724AAE07E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8D93C7D6-9D69-2126-1C4F-E3497966A420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CAE9A-9A94-5F48-1AAE-16141D09CB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23DDF4-35CA-EB07-9206-48E358C889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4675C-B4B4-44C1-96B4-ABDAD7AA86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68645F-9D4D-023E-E5ED-5902DC7BC640}"/>
              </a:ext>
            </a:extLst>
          </p:cNvPr>
          <p:cNvSpPr txBox="1"/>
          <p:nvPr/>
        </p:nvSpPr>
        <p:spPr>
          <a:xfrm>
            <a:off x="2024742" y="274320"/>
            <a:ext cx="8336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solidFill>
                <a:srgbClr val="23346D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1403" y="1536970"/>
            <a:ext cx="924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03" y="1584230"/>
            <a:ext cx="10009763" cy="446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6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54F243A-DC89-2118-AD3A-ECDC6294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9CE0D8F9-CA68-7BFB-A832-F4CB701143EE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937711A-9380-DBFA-794D-DF8C669B5A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38B0FFB6-408C-F4A6-4088-A2764D7CFAC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CE9EF9C-7978-FDA4-2802-35D9AA03C93F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115EE-5B53-ABE0-A742-781316CB9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FF370D-58FD-6BB1-2D3A-402D8C5BDF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0023F-BC03-FCB0-A72D-666A4BC4AD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914ED-DF48-7770-321F-A1DC8B177BE5}"/>
              </a:ext>
            </a:extLst>
          </p:cNvPr>
          <p:cNvSpPr txBox="1"/>
          <p:nvPr/>
        </p:nvSpPr>
        <p:spPr>
          <a:xfrm>
            <a:off x="2024742" y="274320"/>
            <a:ext cx="83365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</a:t>
            </a:r>
            <a:endParaRPr lang="en-IN" sz="4400" dirty="0">
              <a:solidFill>
                <a:srgbClr val="23346D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04672" y="1448780"/>
            <a:ext cx="760827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>
                <a:latin typeface="Arial" panose="020B0604020202020204" pitchFamily="34" charset="0"/>
              </a:rPr>
              <a:t>1.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MQ4 Gas Sensor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detects methane gas leakage.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ESP32 Microcontroller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receives and processes the sensor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If gas concentration increases, a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alert (buzzer)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activated.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ESP32 sends data to the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platform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Gas data is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and analyzed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cloud.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real-time gas level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MATLAB analysis scripts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 data analysis and send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alerts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374732-CB6A-8F05-1FD4-DD8DB8084615}"/>
              </a:ext>
            </a:extLst>
          </p:cNvPr>
          <p:cNvPicPr/>
          <p:nvPr/>
        </p:nvPicPr>
        <p:blipFill>
          <a:blip r:embed="rId10"/>
          <a:srcRect b="10476"/>
          <a:stretch/>
        </p:blipFill>
        <p:spPr>
          <a:xfrm>
            <a:off x="7996629" y="1336906"/>
            <a:ext cx="3552082" cy="4558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97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54F243A-DC89-2118-AD3A-ECDC6294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9CE0D8F9-CA68-7BFB-A832-F4CB701143EE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3160" y="2028285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937711A-9380-DBFA-794D-DF8C669B5A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38B0FFB6-408C-F4A6-4088-A2764D7CFAC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CE9EF9C-7978-FDA4-2802-35D9AA03C93F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115EE-5B53-ABE0-A742-781316CB9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FF370D-58FD-6BB1-2D3A-402D8C5BDF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0023F-BC03-FCB0-A72D-666A4BC4AD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914ED-DF48-7770-321F-A1DC8B177BE5}"/>
              </a:ext>
            </a:extLst>
          </p:cNvPr>
          <p:cNvSpPr txBox="1"/>
          <p:nvPr/>
        </p:nvSpPr>
        <p:spPr>
          <a:xfrm>
            <a:off x="2024742" y="274320"/>
            <a:ext cx="83365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Conclusion/Future Work</a:t>
            </a:r>
            <a:b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4672" y="1468877"/>
            <a:ext cx="103719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– Remote alerts without Wi-Fi.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Sensors – Detect leaks based on pressure change.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– Predictive maintenance..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 &amp; Calibration – Improve accuracy.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Power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Edge AI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Integration – Auto alert to authorities.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9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6F86F0C-D985-8B3C-6647-73D7FA7D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2AB873D4-4D0A-28B1-2207-8E8C641C3F23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3160" y="2028285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F0E31218-5CA1-A958-4B84-7B2BB8FB141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F6E506ED-05B5-54D8-9F6B-00F5FB17408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953A1A8-14E4-B70F-28EB-D2D6A56468A8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2A93F6-384D-CBC1-FBAE-E9E9DD4684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17C616-507E-C343-FED0-10F0ACDC8C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3400E-BB60-D690-8DD4-99C83E0B3B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9CE276-2815-0A4A-7F1A-9A044E8929B2}"/>
              </a:ext>
            </a:extLst>
          </p:cNvPr>
          <p:cNvSpPr txBox="1"/>
          <p:nvPr/>
        </p:nvSpPr>
        <p:spPr>
          <a:xfrm>
            <a:off x="1711476" y="1643564"/>
            <a:ext cx="83365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4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39992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160</TotalTime>
  <Words>383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Arial</vt:lpstr>
      <vt:lpstr>Tw Cen MT</vt:lpstr>
      <vt:lpstr>Times New Roman</vt:lpstr>
      <vt:lpstr>Wingdings</vt:lpstr>
      <vt:lpstr>Roboto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nickpatel1557@gmail.com</cp:lastModifiedBy>
  <cp:revision>24</cp:revision>
  <dcterms:modified xsi:type="dcterms:W3CDTF">2026-01-30T07:35:01Z</dcterms:modified>
</cp:coreProperties>
</file>